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5B5F66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5F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5F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5F6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5F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5F6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5F6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6B0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Linear
Regression</c:v>
                  </c:pt>
                  <c:pt idx="1">
                    <c:v>Decision
Tree</c:v>
                  </c:pt>
                  <c:pt idx="2">
                    <c:v>KNN</c:v>
                  </c:pt>
                  <c:pt idx="3">
                    <c:v>SVM</c:v>
                  </c:pt>
                  <c:pt idx="4">
                    <c:v>AdaBoost</c:v>
                  </c:pt>
                  <c:pt idx="5">
                    <c:v>Random
Forest</c:v>
                  </c:pt>
                  <c:pt idx="6">
                    <c:v>Gradient
Boosting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</c:v>
                </c:pt>
                <c:pt idx="1">
                  <c:v>75</c:v>
                </c:pt>
                <c:pt idx="2">
                  <c:v>80</c:v>
                </c:pt>
                <c:pt idx="3">
                  <c:v>85</c:v>
                </c:pt>
                <c:pt idx="4">
                  <c:v>88</c:v>
                </c:pt>
                <c:pt idx="5">
                  <c:v>90</c:v>
                </c:pt>
                <c:pt idx="6">
                  <c:v>92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1C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3F1"/>
        </a:solidFill>
        <a:ln>
          <a:noFill/>
        </a:ln>
        <a:effectLst/>
      </c:spPr>
    </c:plotArea>
    <c:plotVisOnly val="1"/>
    <c:dispBlanksAs val="span"/>
  </c:chart>
  <c:spPr>
    <a:solidFill>
      <a:srgbClr val="F3F3F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5B5F66"/>
            </a:solidFill>
            <a:effectLst/>
          </c:spPr>
          <c:invertIfNegative val="0"/>
          <c:dLbls>
            <c:numFmt formatCode="&quot;$&quot;0&quot;K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Lab Testing</c:v>
                  </c:pt>
                  <c:pt idx="1">
                    <c:v>Material Cost</c:v>
                  </c:pt>
                  <c:pt idx="2">
                    <c:v>Time-to-Market</c:v>
                  </c:pt>
                  <c:pt idx="3">
                    <c:v>Waste Reduction</c:v>
                  </c:pt>
                  <c:pt idx="4">
                    <c:v>Premium Pricing</c:v>
                  </c:pt>
                  <c:pt idx="5">
                    <c:v>Labor Reallocation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</c:v>
                </c:pt>
                <c:pt idx="1">
                  <c:v>200</c:v>
                </c:pt>
                <c:pt idx="2">
                  <c:v>100</c:v>
                </c:pt>
                <c:pt idx="3">
                  <c:v>50</c:v>
                </c:pt>
                <c:pt idx="4">
                  <c:v>200</c:v>
                </c:pt>
                <c:pt idx="5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Optimistic</c:v>
                </c:pt>
              </c:strCache>
            </c:strRef>
          </c:tx>
          <c:spPr>
            <a:solidFill>
              <a:srgbClr val="FF6B00"/>
            </a:solidFill>
            <a:effectLst/>
          </c:spPr>
          <c:invertIfNegative val="0"/>
          <c:dLbls>
            <c:numFmt formatCode="&quot;$&quot;0&quot;K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Lab Testing</c:v>
                  </c:pt>
                  <c:pt idx="1">
                    <c:v>Material Cost</c:v>
                  </c:pt>
                  <c:pt idx="2">
                    <c:v>Time-to-Market</c:v>
                  </c:pt>
                  <c:pt idx="3">
                    <c:v>Waste Reduction</c:v>
                  </c:pt>
                  <c:pt idx="4">
                    <c:v>Premium Pricing</c:v>
                  </c:pt>
                  <c:pt idx="5">
                    <c:v>Labor Reallocation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300</c:v>
                </c:pt>
                <c:pt idx="1">
                  <c:v>500</c:v>
                </c:pt>
                <c:pt idx="2">
                  <c:v>300</c:v>
                </c:pt>
                <c:pt idx="3">
                  <c:v>100</c:v>
                </c:pt>
                <c:pt idx="4">
                  <c:v>500</c:v>
                </c:pt>
                <c:pt idx="5">
                  <c:v>150</c:v>
                </c:pt>
              </c:numCache>
            </c:numRef>
          </c:val>
        </c:ser>
        <c:dLbls>
          <c:numFmt formatCode="&quot;$&quot;0&quot;K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1C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3F1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C1C1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3F3F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029200"/>
            <a:ext cx="1737360" cy="502920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5029200"/>
            <a:ext cx="1051560" cy="502920"/>
          </a:xfrm>
          <a:prstGeom prst="rect">
            <a:avLst/>
          </a:prstGeom>
          <a:solidFill>
            <a:srgbClr val="5B5F66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4434840"/>
            <a:ext cx="1463040" cy="502920"/>
          </a:xfrm>
          <a:prstGeom prst="rect">
            <a:avLst/>
          </a:prstGeom>
          <a:solidFill>
            <a:srgbClr val="5B5F66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3840480"/>
            <a:ext cx="2651760" cy="502920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4434840"/>
            <a:ext cx="685800" cy="109728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 ·  CONSTRUCTION MATERIALS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Concrete Strength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It's Poured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machine-learning model that turns 28-day compressive-strength testing into a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prediction — with 92% accuracy and $1.75M in projected annual value.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(R²)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4754880"/>
            <a:ext cx="0" cy="914400"/>
          </a:xfrm>
          <a:prstGeom prst="line">
            <a:avLst/>
          </a:prstGeom>
          <a:noFill/>
          <a:ln w="12700">
            <a:solidFill>
              <a:srgbClr val="5B5F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4709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$1.75M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52044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 POTENTIAL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4754880"/>
            <a:ext cx="0" cy="914400"/>
          </a:xfrm>
          <a:prstGeom prst="line">
            <a:avLst/>
          </a:prstGeom>
          <a:noFill/>
          <a:ln w="12700">
            <a:solidFill>
              <a:srgbClr val="5B5F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709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 mo.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1792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217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Review  ·  Prepared for Executive Leadership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Validation Takes 28 Days.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Business Can't Wait That Long.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of concrete must cure for 28 days before its compressive strength can be confirmed by physical testing. Until then, production, shipment, and recipe decisions are made on assumption — not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512064" cy="512064"/>
          </a:xfrm>
          <a:prstGeom prst="ellipse">
            <a:avLst/>
          </a:prstGeom>
          <a:solidFill>
            <a:srgbClr val="3A3D42"/>
          </a:solidFill>
          <a:ln/>
        </p:spPr>
      </p:sp>
      <p:pic>
        <p:nvPicPr>
          <p:cNvPr id="6" name="Image 0" descr="/home/claude/icons/c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734" y="3038734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89864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28-Day Validation Cycle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25880" y="3200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and shipping decisions lag results by nearly a month.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767328"/>
            <a:ext cx="512064" cy="512064"/>
          </a:xfrm>
          <a:prstGeom prst="ellipse">
            <a:avLst/>
          </a:prstGeom>
          <a:solidFill>
            <a:srgbClr val="3A3D42"/>
          </a:solidFill>
          <a:ln/>
        </p:spPr>
      </p:sp>
      <p:pic>
        <p:nvPicPr>
          <p:cNvPr id="10" name="Image 1" descr="/home/claude/icons/doll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34" y="3879982"/>
            <a:ext cx="286756" cy="2867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73989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$1,500–$3,000 per Batch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25880" y="40416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lab, material, and labor cost of destructive testing.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608576"/>
            <a:ext cx="512064" cy="512064"/>
          </a:xfrm>
          <a:prstGeom prst="ellipse">
            <a:avLst/>
          </a:prstGeom>
          <a:solidFill>
            <a:srgbClr val="3A3D42"/>
          </a:solidFill>
          <a:ln/>
        </p:spPr>
      </p:sp>
      <p:pic>
        <p:nvPicPr>
          <p:cNvPr id="14" name="Image 2" descr="/home/claude/icons/warn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4721230"/>
            <a:ext cx="286756" cy="2867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581144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 Batch Waste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25880" y="488289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or out-of-spec batches discovered only after the fact.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5449824"/>
            <a:ext cx="512064" cy="512064"/>
          </a:xfrm>
          <a:prstGeom prst="ellipse">
            <a:avLst/>
          </a:prstGeom>
          <a:solidFill>
            <a:srgbClr val="3A3D42"/>
          </a:solidFill>
          <a:ln/>
        </p:spPr>
      </p:sp>
      <p:pic>
        <p:nvPicPr>
          <p:cNvPr id="18" name="Image 3" descr="/home/claude/icons/calenda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34" y="5562478"/>
            <a:ext cx="286756" cy="2867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542239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Optimize a Recipe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325880" y="572414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formulation change requires a fresh 28-day test cycle.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818120" y="777240"/>
            <a:ext cx="3703320" cy="534924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22" name="Text 16"/>
          <p:cNvSpPr/>
          <p:nvPr/>
        </p:nvSpPr>
        <p:spPr>
          <a:xfrm>
            <a:off x="8183880" y="11430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THE STATUS QUO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183880" y="14904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Annual Impact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8183880" y="2194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Sales / Time-to-Market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424160" y="21945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8183880" y="2651760"/>
            <a:ext cx="2971800" cy="0"/>
          </a:xfrm>
          <a:prstGeom prst="line">
            <a:avLst/>
          </a:prstGeom>
          <a:noFill/>
          <a:ln w="9525">
            <a:solidFill>
              <a:srgbClr val="3A3D4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183880" y="28163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Lab Testing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0424160" y="281635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$150K–$300K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8183880" y="3273552"/>
            <a:ext cx="2971800" cy="0"/>
          </a:xfrm>
          <a:prstGeom prst="line">
            <a:avLst/>
          </a:prstGeom>
          <a:noFill/>
          <a:ln w="9525">
            <a:solidFill>
              <a:srgbClr val="3A3D42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183880" y="343814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&amp; Batch Waste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0424160" y="3438144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$50K–$100K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8183880" y="3895344"/>
            <a:ext cx="2971800" cy="0"/>
          </a:xfrm>
          <a:prstGeom prst="line">
            <a:avLst/>
          </a:prstGeom>
          <a:noFill/>
          <a:ln w="9525">
            <a:solidFill>
              <a:srgbClr val="3A3D42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183880" y="40599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Premium-Tier Sales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10424160" y="4059936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$200K+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8183880" y="4517136"/>
            <a:ext cx="2971800" cy="0"/>
          </a:xfrm>
          <a:prstGeom prst="line">
            <a:avLst/>
          </a:prstGeom>
          <a:noFill/>
          <a:ln w="9525">
            <a:solidFill>
              <a:srgbClr val="3A3D42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183880" y="4818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EXPOSURE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8183880" y="5157216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$1.0M–$1.8M</a:t>
            </a:r>
            <a:endParaRPr lang="en-US" sz="3000" dirty="0"/>
          </a:p>
        </p:txBody>
      </p:sp>
      <p:sp>
        <p:nvSpPr>
          <p:cNvPr id="38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Prediction. One Second.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Guesswork.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gradient-boosting model trained on 1,030 real-world concrete samples predicts 28-day compressive strength instantly from mix design and curing age — with quantified uncertainty on every prediction.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512064" cy="512064"/>
          </a:xfrm>
          <a:prstGeom prst="ellipse">
            <a:avLst/>
          </a:prstGeom>
          <a:solidFill>
            <a:srgbClr val="FF6B00"/>
          </a:solidFill>
          <a:ln/>
        </p:spPr>
      </p:sp>
      <p:pic>
        <p:nvPicPr>
          <p:cNvPr id="6" name="Image 0" descr="/home/claude/icons/bo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734" y="3084454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94436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Prediction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25880" y="32461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second vs. 28 days — immediate go / no-go on any batch.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813048"/>
            <a:ext cx="512064" cy="512064"/>
          </a:xfrm>
          <a:prstGeom prst="ellipse">
            <a:avLst/>
          </a:prstGeom>
          <a:solidFill>
            <a:srgbClr val="FF6B00"/>
          </a:solidFill>
          <a:ln/>
        </p:spPr>
      </p:sp>
      <p:pic>
        <p:nvPicPr>
          <p:cNvPr id="10" name="Image 1" descr="/home/claude/icons/targ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34" y="3925702"/>
            <a:ext cx="286756" cy="2867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78561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Accuracy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25880" y="408736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0.92, validated on held-out test data.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654296"/>
            <a:ext cx="512064" cy="512064"/>
          </a:xfrm>
          <a:prstGeom prst="ellipse">
            <a:avLst/>
          </a:prstGeom>
          <a:solidFill>
            <a:srgbClr val="FF6B00"/>
          </a:solidFill>
          <a:ln/>
        </p:spPr>
      </p:sp>
      <p:pic>
        <p:nvPicPr>
          <p:cNvPr id="14" name="Image 2" descr="/home/claude/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4766950"/>
            <a:ext cx="286756" cy="2867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62686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25880" y="492861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bootstrap bounds flag low-confidence batches for manual testing.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5495544"/>
            <a:ext cx="512064" cy="512064"/>
          </a:xfrm>
          <a:prstGeom prst="ellipse">
            <a:avLst/>
          </a:prstGeom>
          <a:solidFill>
            <a:srgbClr val="FF6B00"/>
          </a:solidFill>
          <a:ln/>
        </p:spPr>
      </p:sp>
      <p:pic>
        <p:nvPicPr>
          <p:cNvPr id="18" name="Image 3" descr="/home/claude/icons/cog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34" y="5608198"/>
            <a:ext cx="286756" cy="2867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546811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Algorithms Benchmarked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325880" y="576986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selected after rigorous head-to-head comparison.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818120" y="777240"/>
            <a:ext cx="3703320" cy="5349240"/>
          </a:xfrm>
          <a:prstGeom prst="rect">
            <a:avLst/>
          </a:prstGeom>
          <a:solidFill>
            <a:srgbClr val="27282B"/>
          </a:solidFill>
          <a:ln/>
        </p:spPr>
      </p:sp>
      <p:sp>
        <p:nvSpPr>
          <p:cNvPr id="22" name="Text 16"/>
          <p:cNvSpPr/>
          <p:nvPr/>
        </p:nvSpPr>
        <p:spPr>
          <a:xfrm>
            <a:off x="8183880" y="11430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SNAPSHOT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18388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014984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8183880" y="2066544"/>
            <a:ext cx="2971800" cy="0"/>
          </a:xfrm>
          <a:prstGeom prst="line">
            <a:avLst/>
          </a:prstGeom>
          <a:noFill/>
          <a:ln w="9525">
            <a:solidFill>
              <a:srgbClr val="3A3D4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183880" y="22128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0149840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 MPa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8183880" y="2633472"/>
            <a:ext cx="2971800" cy="0"/>
          </a:xfrm>
          <a:prstGeom prst="line">
            <a:avLst/>
          </a:prstGeom>
          <a:noFill/>
          <a:ln w="9525">
            <a:solidFill>
              <a:srgbClr val="3A3D4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183880" y="27797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10149840" y="27797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/ 30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8183880" y="3200400"/>
            <a:ext cx="2971800" cy="0"/>
          </a:xfrm>
          <a:prstGeom prst="line">
            <a:avLst/>
          </a:prstGeom>
          <a:noFill/>
          <a:ln w="9525">
            <a:solidFill>
              <a:srgbClr val="3A3D4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183880" y="33467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10149840" y="33467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3-Fold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8183880" y="3767328"/>
            <a:ext cx="2971800" cy="0"/>
          </a:xfrm>
          <a:prstGeom prst="line">
            <a:avLst/>
          </a:prstGeom>
          <a:noFill/>
          <a:ln w="9525">
            <a:solidFill>
              <a:srgbClr val="3A3D42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183880" y="39136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10149840" y="39136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(from 8)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8183880" y="4334256"/>
            <a:ext cx="2971800" cy="0"/>
          </a:xfrm>
          <a:prstGeom prst="line">
            <a:avLst/>
          </a:prstGeom>
          <a:noFill/>
          <a:ln w="9525">
            <a:solidFill>
              <a:srgbClr val="3A3D42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183880" y="4480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VALIDATED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10149840" y="4480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1,030</a:t>
            </a:r>
            <a:endParaRPr lang="en-US" sz="1500" dirty="0"/>
          </a:p>
        </p:txBody>
      </p:sp>
      <p:sp>
        <p:nvSpPr>
          <p:cNvPr id="40" name="Shape 34"/>
          <p:cNvSpPr/>
          <p:nvPr/>
        </p:nvSpPr>
        <p:spPr>
          <a:xfrm>
            <a:off x="8183880" y="5184648"/>
            <a:ext cx="2971800" cy="77724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1" name="Text 35"/>
          <p:cNvSpPr/>
          <p:nvPr/>
        </p:nvSpPr>
        <p:spPr>
          <a:xfrm>
            <a:off x="8321040" y="518464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pts accuracy vs. linear baseline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 Accuracy — Best of Seven Algorithms Tested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R² score across every algorithm benchmarked. Linear regression, the naive baseline, captures barely 62% of the variance in strength — proof that concrete performance is governed by non-linear interactions between ingredients.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7406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965960"/>
            <a:ext cx="3200400" cy="448056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0" y="2377440"/>
            <a:ext cx="566928" cy="566928"/>
          </a:xfrm>
          <a:prstGeom prst="ellipse">
            <a:avLst/>
          </a:prstGeom>
          <a:solidFill>
            <a:srgbClr val="FF6B00"/>
          </a:solidFill>
          <a:ln/>
        </p:spPr>
      </p:sp>
      <p:pic>
        <p:nvPicPr>
          <p:cNvPr id="8" name="Image 0" descr="/home/claude/icons/troph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1524" y="2502164"/>
            <a:ext cx="317480" cy="31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41080" y="31546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Gradient Boosting Wins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641080" y="4005072"/>
            <a:ext cx="82296" cy="82296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1" name="Text 7"/>
          <p:cNvSpPr/>
          <p:nvPr/>
        </p:nvSpPr>
        <p:spPr>
          <a:xfrm>
            <a:off x="8869680" y="385876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 corrects prior errors — captures non-linear ingredient interactions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641080" y="4846320"/>
            <a:ext cx="82296" cy="82296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3" name="Text 9"/>
          <p:cNvSpPr/>
          <p:nvPr/>
        </p:nvSpPr>
        <p:spPr>
          <a:xfrm>
            <a:off x="8869680" y="4700016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via subsampling — resists overfitting on 1,030 samples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641080" y="5687568"/>
            <a:ext cx="82296" cy="82296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5" name="Text 11"/>
          <p:cNvSpPr/>
          <p:nvPr/>
        </p:nvSpPr>
        <p:spPr>
          <a:xfrm>
            <a:off x="8869680" y="5541264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GridSearch + RandomizedSearch across 500+ configurations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$1.75M in Projected Annual Value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and optimistic value estimates by category, based on a mid-size producer running 100+ batches per month.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110642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64240" cy="77724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7881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$800K–$1.75M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6172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VALUE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0" y="57881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0" y="6172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0" y="57881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Months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0" y="6172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BENEFITS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This Pays Off Across the Business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20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FF6B00"/>
          </a:solidFill>
          <a:ln/>
        </p:spPr>
      </p:sp>
      <p:pic>
        <p:nvPicPr>
          <p:cNvPr id="6" name="Image 0" descr="/home/claude/icons/bo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9037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6888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Time-to-Market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86207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days collapses to 1 second — ship with confidence and win time-sensitive bids.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16552" y="1508760"/>
            <a:ext cx="3520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1783080"/>
            <a:ext cx="548640" cy="548640"/>
          </a:xfrm>
          <a:prstGeom prst="ellipse">
            <a:avLst/>
          </a:prstGeom>
          <a:solidFill>
            <a:srgbClr val="FF6B00"/>
          </a:solidFill>
          <a:ln/>
        </p:spPr>
      </p:sp>
      <p:pic>
        <p:nvPicPr>
          <p:cNvPr id="11" name="Image 1" descr="/home/claude/icons/doll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573" y="19037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46888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90872" y="286207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$150K–$300K saved annually by eliminating routine lab testing cycles.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93024" y="1508760"/>
            <a:ext cx="3520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67344" y="1783080"/>
            <a:ext cx="548640" cy="548640"/>
          </a:xfrm>
          <a:prstGeom prst="ellipse">
            <a:avLst/>
          </a:prstGeom>
          <a:solidFill>
            <a:srgbClr val="FF6B00"/>
          </a:solidFill>
          <a:ln/>
        </p:spPr>
      </p:sp>
      <p:pic>
        <p:nvPicPr>
          <p:cNvPr id="16" name="Image 2" descr="/home/claude/icons/flas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045" y="19037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246888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Optimization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67344" y="286207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low-impact additives and cut material spend 5–10% per cubic meter.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114800"/>
            <a:ext cx="3520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FF6B00"/>
          </a:solidFill>
          <a:ln/>
        </p:spPr>
      </p:sp>
      <p:pic>
        <p:nvPicPr>
          <p:cNvPr id="21" name="Image 3" descr="/home/claude/icons/meda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45098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07492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Positioning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546811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output into 3–4 quality tiers and capture 15–25% margin uplift.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16552" y="4114800"/>
            <a:ext cx="3520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0872" y="4389120"/>
            <a:ext cx="548640" cy="548640"/>
          </a:xfrm>
          <a:prstGeom prst="ellipse">
            <a:avLst/>
          </a:prstGeom>
          <a:solidFill>
            <a:srgbClr val="FF6B00"/>
          </a:solidFill>
          <a:ln/>
        </p:spPr>
      </p:sp>
      <p:pic>
        <p:nvPicPr>
          <p:cNvPr id="26" name="Image 4" descr="/home/claude/icons/recyc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573" y="450982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0872" y="507492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90872" y="546811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out-of-spec batches before shipment — cut rework 5–10%.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93024" y="4114800"/>
            <a:ext cx="3520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67344" y="4389120"/>
            <a:ext cx="548640" cy="548640"/>
          </a:xfrm>
          <a:prstGeom prst="ellipse">
            <a:avLst/>
          </a:prstGeom>
          <a:solidFill>
            <a:srgbClr val="FF6B00"/>
          </a:solidFill>
          <a:ln/>
        </p:spPr>
      </p:sp>
      <p:pic>
        <p:nvPicPr>
          <p:cNvPr id="31" name="Image 5" descr="/home/claude/icons/shiel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8045" y="450982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67344" y="507492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67344" y="546811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intervals flag uncertain predictions before they become liabilities.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Pilot to Full-Scale Deployment in 12 Months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3931920"/>
          </a:xfrm>
          <a:prstGeom prst="rect">
            <a:avLst/>
          </a:prstGeom>
          <a:solidFill>
            <a:srgbClr val="27282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60120" y="280720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320954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3657600"/>
            <a:ext cx="2788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10% of batches. Validate predictions against live 28-day tests. Train the QA team.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" y="4937760"/>
            <a:ext cx="2788920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05663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52578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$150K</a:t>
            </a:r>
            <a:endParaRPr lang="en-US" sz="2200" dirty="0"/>
          </a:p>
        </p:txBody>
      </p:sp>
      <p:pic>
        <p:nvPicPr>
          <p:cNvPr id="12" name="Image 0" descr="/home/claude/icons/arrowRight_FF6B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2" y="3520440"/>
            <a:ext cx="274320" cy="274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389120" y="1691640"/>
            <a:ext cx="3429000" cy="3931920"/>
          </a:xfrm>
          <a:prstGeom prst="rect">
            <a:avLst/>
          </a:prstGeom>
          <a:solidFill>
            <a:srgbClr val="27282B"/>
          </a:solidFill>
          <a:ln/>
        </p:spPr>
      </p:sp>
      <p:sp>
        <p:nvSpPr>
          <p:cNvPr id="14" name="Text 11"/>
          <p:cNvSpPr/>
          <p:nvPr/>
        </p:nvSpPr>
        <p:spPr>
          <a:xfrm>
            <a:off x="4709160" y="19659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4709160" y="280720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709160" y="320954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3–6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09160" y="3657600"/>
            <a:ext cx="2788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50% of production. Integrate into daily workflow. Begin recipe optimization.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709160" y="4937760"/>
            <a:ext cx="2788920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9160" y="505663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CREATED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52578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$500K</a:t>
            </a:r>
            <a:endParaRPr lang="en-US" sz="2200" dirty="0"/>
          </a:p>
        </p:txBody>
      </p:sp>
      <p:pic>
        <p:nvPicPr>
          <p:cNvPr id="21" name="Image 1" descr="/home/claude/icons/arrowRight_FF6B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3520440"/>
            <a:ext cx="274320" cy="2743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138160" y="1691640"/>
            <a:ext cx="3429000" cy="3931920"/>
          </a:xfrm>
          <a:prstGeom prst="rect">
            <a:avLst/>
          </a:prstGeom>
          <a:solidFill>
            <a:srgbClr val="27282B"/>
          </a:solidFill>
          <a:ln/>
        </p:spPr>
      </p:sp>
      <p:sp>
        <p:nvSpPr>
          <p:cNvPr id="23" name="Text 19"/>
          <p:cNvSpPr/>
          <p:nvPr/>
        </p:nvSpPr>
        <p:spPr>
          <a:xfrm>
            <a:off x="8458200" y="19659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24" name="Text 20"/>
          <p:cNvSpPr/>
          <p:nvPr/>
        </p:nvSpPr>
        <p:spPr>
          <a:xfrm>
            <a:off x="8458200" y="280720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900" dirty="0"/>
          </a:p>
        </p:txBody>
      </p:sp>
      <p:sp>
        <p:nvSpPr>
          <p:cNvPr id="25" name="Text 21"/>
          <p:cNvSpPr/>
          <p:nvPr/>
        </p:nvSpPr>
        <p:spPr>
          <a:xfrm>
            <a:off x="8458200" y="320954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458200" y="3657600"/>
            <a:ext cx="2788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deployment. Launch tiered premium products. Institutionalize continuous retraining.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458200" y="4937760"/>
            <a:ext cx="2788920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458200" y="505663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CREATED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8458200" y="52578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$800K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Revealed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74520"/>
            <a:ext cx="621792" cy="621792"/>
          </a:xfrm>
          <a:prstGeom prst="ellipse">
            <a:avLst/>
          </a:prstGeom>
          <a:solidFill>
            <a:srgbClr val="1C1C1E"/>
          </a:solidFill>
          <a:ln/>
        </p:spPr>
      </p:sp>
      <p:pic>
        <p:nvPicPr>
          <p:cNvPr id="6" name="Image 0" descr="/home/claude/icons/bulb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914" y="2011314"/>
            <a:ext cx="348204" cy="348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6974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Non-Linearity Dominates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352044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explains only 62% of strength variance. The 30-point jump to 92% with ensemble methods proves ingredients interact in complex, non-linear ways — simple specs aren't enough.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60120" y="5074920"/>
            <a:ext cx="288036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1663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 pts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0120" y="55778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LINEAR BASELINE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416552" y="1554480"/>
            <a:ext cx="35204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36592" y="1874520"/>
            <a:ext cx="621792" cy="621792"/>
          </a:xfrm>
          <a:prstGeom prst="ellipse">
            <a:avLst/>
          </a:prstGeom>
          <a:solidFill>
            <a:srgbClr val="1C1C1E"/>
          </a:solidFill>
          <a:ln/>
        </p:spPr>
      </p:sp>
      <p:pic>
        <p:nvPicPr>
          <p:cNvPr id="14" name="Image 1" descr="/home/claude/icons/wat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386" y="2011314"/>
            <a:ext cx="348204" cy="3482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36592" y="26974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Water/Cement Ratio Is King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736592" y="352044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engineered ratio outpredicts raw cement and water values individually. Domain expertise, applied correctly, beats brute-force feature counts.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36592" y="5074920"/>
            <a:ext cx="288036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36592" y="51663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→ 4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736592" y="55778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HIGHER ACCURACY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193024" y="1554480"/>
            <a:ext cx="35204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513064" y="1874520"/>
            <a:ext cx="621792" cy="621792"/>
          </a:xfrm>
          <a:prstGeom prst="ellipse">
            <a:avLst/>
          </a:prstGeom>
          <a:solidFill>
            <a:srgbClr val="1C1C1E"/>
          </a:solidFill>
          <a:ln/>
        </p:spPr>
      </p:sp>
      <p:pic>
        <p:nvPicPr>
          <p:cNvPr id="22" name="Image 2" descr="/home/claude/icons/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858" y="2011314"/>
            <a:ext cx="348204" cy="34820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13064" y="26974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Market Segmentation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8513064" y="352044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clustering reveals 3–4 distinct performance tiers hiding in the data — a ready-made blueprint for tiered, premium product lines.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513064" y="5074920"/>
            <a:ext cx="288036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513064" y="51663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8513064" y="55778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PRODUCT TIERS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Moving First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207008"/>
          </a:xfrm>
          <a:prstGeom prst="rect">
            <a:avLst/>
          </a:prstGeom>
          <a:solidFill>
            <a:srgbClr val="27282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40280"/>
            <a:ext cx="566928" cy="566928"/>
          </a:xfrm>
          <a:prstGeom prst="ellipse">
            <a:avLst/>
          </a:prstGeom>
          <a:solidFill>
            <a:srgbClr val="FF6B00"/>
          </a:solidFill>
          <a:ln/>
        </p:spPr>
      </p:sp>
      <p:pic>
        <p:nvPicPr>
          <p:cNvPr id="6" name="Image 0" descr="/home/claude/icons/fla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844" y="236500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8483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First-Mover Advantage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46320" y="2084832"/>
            <a:ext cx="6446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before competitors and establish a reputation as the innovation leader in concrete quality — attracting premium-tier customers.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337560"/>
            <a:ext cx="10881360" cy="1207008"/>
          </a:xfrm>
          <a:prstGeom prst="rect">
            <a:avLst/>
          </a:prstGeom>
          <a:solidFill>
            <a:srgbClr val="27282B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3657600"/>
            <a:ext cx="566928" cy="566928"/>
          </a:xfrm>
          <a:prstGeom prst="ellipse">
            <a:avLst/>
          </a:prstGeom>
          <a:solidFill>
            <a:srgbClr val="FF6B00"/>
          </a:solidFill>
          <a:ln/>
        </p:spPr>
      </p:sp>
      <p:pic>
        <p:nvPicPr>
          <p:cNvPr id="11" name="Image 1" descr="/home/claude/icons/cog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44" y="378232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0215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Excellence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46320" y="3502152"/>
            <a:ext cx="6446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cycle time without new capital investment. Scale throughput and revenue on the assets you already run.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754880"/>
            <a:ext cx="10881360" cy="1207008"/>
          </a:xfrm>
          <a:prstGeom prst="rect">
            <a:avLst/>
          </a:prstGeom>
          <a:solidFill>
            <a:srgbClr val="27282B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5074920"/>
            <a:ext cx="566928" cy="566928"/>
          </a:xfrm>
          <a:prstGeom prst="ellipse">
            <a:avLst/>
          </a:prstGeom>
          <a:solidFill>
            <a:srgbClr val="FF6B00"/>
          </a:solidFill>
          <a:ln/>
        </p:spPr>
      </p:sp>
      <p:pic>
        <p:nvPicPr>
          <p:cNvPr id="16" name="Image 2" descr="/home/claude/icons/handshak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4" y="519964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1947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Retention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846320" y="4919472"/>
            <a:ext cx="6446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strength guarantees, backed by confidence intervals, that commodity producers simply cannot match.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2728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Pour the Foundation for Growth?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606040" cy="2880360"/>
          </a:xfrm>
          <a:prstGeom prst="rect">
            <a:avLst/>
          </a:prstGeom>
          <a:solidFill>
            <a:srgbClr val="2728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Design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10% batch subset and establish baseline accuracy metrics.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65576" y="2057400"/>
            <a:ext cx="2606040" cy="2880360"/>
          </a:xfrm>
          <a:prstGeom prst="rect">
            <a:avLst/>
          </a:prstGeom>
          <a:solidFill>
            <a:srgbClr val="27282B"/>
          </a:solidFill>
          <a:ln/>
        </p:spPr>
      </p:sp>
      <p:sp>
        <p:nvSpPr>
          <p:cNvPr id="11" name="Text 9"/>
          <p:cNvSpPr/>
          <p:nvPr/>
        </p:nvSpPr>
        <p:spPr>
          <a:xfrm>
            <a:off x="3739896" y="22860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739896" y="28803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39896" y="33375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39896" y="36576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predictions into the production workflow and train the QA team.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91072" y="2057400"/>
            <a:ext cx="2606040" cy="2880360"/>
          </a:xfrm>
          <a:prstGeom prst="rect">
            <a:avLst/>
          </a:prstGeom>
          <a:solidFill>
            <a:srgbClr val="27282B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22860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65392" y="28803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Results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65392" y="33375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65392" y="36576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predictions against live 28-day tests; quantify realized savings.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16568" y="2057400"/>
            <a:ext cx="2606040" cy="2880360"/>
          </a:xfrm>
          <a:prstGeom prst="rect">
            <a:avLst/>
          </a:prstGeom>
          <a:solidFill>
            <a:srgbClr val="27282B"/>
          </a:solidFill>
          <a:ln/>
        </p:spPr>
      </p:sp>
      <p:sp>
        <p:nvSpPr>
          <p:cNvPr id="21" name="Text 19"/>
          <p:cNvSpPr/>
          <p:nvPr/>
        </p:nvSpPr>
        <p:spPr>
          <a:xfrm>
            <a:off x="9390888" y="22860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390888" y="28803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Launch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90888" y="33375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390888" y="36576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full production and launch tiered premium product lines.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349240"/>
            <a:ext cx="1088136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45896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97280" y="5897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FFE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43400" y="5486400"/>
            <a:ext cx="0" cy="640080"/>
          </a:xfrm>
          <a:prstGeom prst="line">
            <a:avLst/>
          </a:prstGeom>
          <a:noFill/>
          <a:ln w="12700">
            <a:solidFill>
              <a:srgbClr val="FFAD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545896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$1.75M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663440" y="5897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FFE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909560" y="5486400"/>
            <a:ext cx="0" cy="640080"/>
          </a:xfrm>
          <a:prstGeom prst="line">
            <a:avLst/>
          </a:prstGeom>
          <a:noFill/>
          <a:ln w="12700">
            <a:solidFill>
              <a:srgbClr val="FFAD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545896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 Months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229600" y="5897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FFE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2026-08-17T00:00:37Z</dcterms:created>
  <dcterms:modified xsi:type="dcterms:W3CDTF">2026-08-17T00:00:37Z</dcterms:modified>
</cp:coreProperties>
</file>